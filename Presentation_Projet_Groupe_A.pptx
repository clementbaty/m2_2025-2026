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7" r:id="rId6"/>
    <p:sldId id="260" r:id="rId7"/>
    <p:sldId id="266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316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F2A44-24B5-22EF-84EB-5574A92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BF56E-3E8E-7A51-16D6-A37BA5ADE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79A897-F1E2-78EE-C5BC-A2268F3E2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2B26F-09D4-65BC-4F5F-41B5F90112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757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46321-8300-41B1-E3E4-3E6DE69C4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E024A-823B-0A4B-280D-9F4638D8D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2573B-B49F-183F-CFA5-F1D3746BD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FC4BA-651C-DA6F-D79E-7FC2F23264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37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0"/>
            <a:ext cx="54864" cy="54864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4923855"/>
            <a:ext cx="54864" cy="54864"/>
          </a:xfrm>
          <a:prstGeom prst="ellipse">
            <a:avLst/>
          </a:prstGeom>
          <a:solidFill>
            <a:srgbClr val="1C7293">
              <a:alpha val="65000"/>
            </a:srgbClr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2"/>
          <p:cNvSpPr/>
          <p:nvPr/>
        </p:nvSpPr>
        <p:spPr>
          <a:xfrm>
            <a:off x="822960" y="4846437"/>
            <a:ext cx="54864" cy="54864"/>
          </a:xfrm>
          <a:prstGeom prst="ellipse">
            <a:avLst/>
          </a:prstGeom>
          <a:solidFill>
            <a:srgbClr val="1C7293">
              <a:alpha val="60000"/>
            </a:srgbClr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868680" y="4935347"/>
            <a:ext cx="54864" cy="54864"/>
          </a:xfrm>
          <a:prstGeom prst="ellipse">
            <a:avLst/>
          </a:prstGeom>
          <a:solidFill>
            <a:srgbClr val="1C7293">
              <a:alpha val="55000"/>
            </a:srgbClr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6" name="Shape 4"/>
          <p:cNvSpPr/>
          <p:nvPr/>
        </p:nvSpPr>
        <p:spPr>
          <a:xfrm>
            <a:off x="914400" y="5136653"/>
            <a:ext cx="54864" cy="54864"/>
          </a:xfrm>
          <a:prstGeom prst="ellipse">
            <a:avLst/>
          </a:prstGeom>
          <a:solidFill>
            <a:srgbClr val="1C7293">
              <a:alpha val="50000"/>
            </a:srgbClr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960120" y="5328246"/>
            <a:ext cx="54864" cy="54864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8" name="Shape 6"/>
          <p:cNvSpPr/>
          <p:nvPr/>
        </p:nvSpPr>
        <p:spPr>
          <a:xfrm>
            <a:off x="5591556" y="68580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9" name="Image 0" descr="/home/claude/groupA_pptx/icon_sig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7870" y="912114"/>
            <a:ext cx="553212" cy="5532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0" y="196596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noProof="0" dirty="0">
                <a:solidFill>
                  <a:srgbClr val="BB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du projet</a:t>
            </a:r>
            <a:endParaRPr lang="fr-FR" sz="2200" noProof="0" dirty="0"/>
          </a:p>
        </p:txBody>
      </p:sp>
      <p:sp>
        <p:nvSpPr>
          <p:cNvPr id="11" name="Text 8"/>
          <p:cNvSpPr/>
          <p:nvPr/>
        </p:nvSpPr>
        <p:spPr>
          <a:xfrm>
            <a:off x="0" y="251460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5400" b="1" kern="0" spc="200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 A</a:t>
            </a:r>
            <a:endParaRPr lang="fr-FR" sz="5400" noProof="0" dirty="0"/>
          </a:p>
        </p:txBody>
      </p:sp>
      <p:sp>
        <p:nvSpPr>
          <p:cNvPr id="12" name="Text 9"/>
          <p:cNvSpPr/>
          <p:nvPr/>
        </p:nvSpPr>
        <p:spPr>
          <a:xfrm>
            <a:off x="1371600" y="365760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600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et analyse d'un signal à partir d'un fichier CSV</a:t>
            </a:r>
            <a:endParaRPr lang="fr-FR" sz="1600" noProof="0" dirty="0"/>
          </a:p>
        </p:txBody>
      </p:sp>
      <p:sp>
        <p:nvSpPr>
          <p:cNvPr id="13" name="Shape 10"/>
          <p:cNvSpPr/>
          <p:nvPr/>
        </p:nvSpPr>
        <p:spPr>
          <a:xfrm>
            <a:off x="4997196" y="4343400"/>
            <a:ext cx="21945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1"/>
          <p:cNvSpPr/>
          <p:nvPr/>
        </p:nvSpPr>
        <p:spPr>
          <a:xfrm>
            <a:off x="0" y="45262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noProof="0" dirty="0">
                <a:solidFill>
                  <a:srgbClr val="7E9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programmation — Master 2</a:t>
            </a:r>
            <a:endParaRPr lang="fr-FR" sz="13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générale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et son rôle dans le projet global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5669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1400"/>
              </a:spcAft>
              <a:buNone/>
            </a:pPr>
            <a:r>
              <a:rPr lang="fr-FR" sz="150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module réalise l'acquisition et l'analyse d'un signal à partir d'un fichier CSV.</a:t>
            </a:r>
            <a:endParaRPr lang="fr-FR" sz="1500" noProof="0" dirty="0"/>
          </a:p>
          <a:p>
            <a:pPr marL="0" indent="0">
              <a:lnSpc>
                <a:spcPct val="115000"/>
              </a:lnSpc>
              <a:spcAft>
                <a:spcPts val="600"/>
              </a:spcAft>
              <a:buNone/>
            </a:pPr>
            <a:r>
              <a:rPr lang="fr-FR" sz="1500" b="1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peut :</a:t>
            </a:r>
            <a:endParaRPr lang="fr-FR" sz="1500" noProof="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fr-FR" sz="150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un signal CSV Uniquement</a:t>
            </a:r>
            <a:endParaRPr lang="fr-FR" sz="1500" noProof="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fr-FR" sz="150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Renseigner des informations complémentaires</a:t>
            </a:r>
            <a:endParaRPr lang="fr-FR" sz="1500" noProof="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fr-FR" sz="150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le traitement pour obtenir automatiquement les caractéristiques du signal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fr-FR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un signale de sortie qui sera transmis au groupe B</a:t>
            </a:r>
            <a:endParaRPr lang="fr-FR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7132320" y="1554480"/>
            <a:ext cx="4507992" cy="4480560"/>
          </a:xfrm>
          <a:prstGeom prst="roundRect">
            <a:avLst>
              <a:gd name="adj" fmla="val 1633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8974836" y="19202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8" name="Image 0" descr="/home/claude/groupA_pptx/icon_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002" y="2105406"/>
            <a:ext cx="452628" cy="4526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06640" y="2880360"/>
            <a:ext cx="3959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7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globale</a:t>
            </a:r>
            <a:endParaRPr lang="fr-FR" sz="1700" noProof="0" dirty="0"/>
          </a:p>
        </p:txBody>
      </p:sp>
      <p:sp>
        <p:nvSpPr>
          <p:cNvPr id="10" name="Text 7"/>
          <p:cNvSpPr/>
          <p:nvPr/>
        </p:nvSpPr>
        <p:spPr>
          <a:xfrm>
            <a:off x="7406640" y="3383280"/>
            <a:ext cx="39593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350" noProof="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s'intègre dans une architecture composée de plusieurs groupes.</a:t>
            </a:r>
            <a:endParaRPr lang="fr-FR" sz="1350" noProof="0" dirty="0"/>
          </a:p>
          <a:p>
            <a:pPr marL="0" indent="0" algn="ctr">
              <a:lnSpc>
                <a:spcPct val="120000"/>
              </a:lnSpc>
              <a:buNone/>
            </a:pPr>
            <a:endParaRPr lang="fr-FR" sz="1350" noProof="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fr-FR" sz="1350" noProof="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produites doivent être exploitables par les autres parties du projet.</a:t>
            </a:r>
            <a:endParaRPr lang="fr-FR" sz="1350" noProof="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Cahier des charges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contraintes imposées au projet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448056" y="1691640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676656" y="19202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mage 0" descr="/home/claude/groupA_pptx/icon_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87" y="205397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08176" y="1892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fr-FR" sz="1450" noProof="0" dirty="0"/>
          </a:p>
        </p:txBody>
      </p:sp>
      <p:sp>
        <p:nvSpPr>
          <p:cNvPr id="8" name="Text 5"/>
          <p:cNvSpPr/>
          <p:nvPr/>
        </p:nvSpPr>
        <p:spPr>
          <a:xfrm>
            <a:off x="676656" y="260604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fr-FR" sz="11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en Python 3</a:t>
            </a:r>
            <a:endParaRPr lang="fr-FR" sz="1150" noProof="0" dirty="0"/>
          </a:p>
        </p:txBody>
      </p:sp>
      <p:sp>
        <p:nvSpPr>
          <p:cNvPr id="9" name="Shape 6"/>
          <p:cNvSpPr/>
          <p:nvPr/>
        </p:nvSpPr>
        <p:spPr>
          <a:xfrm>
            <a:off x="4288536" y="1691640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Shape 7"/>
          <p:cNvSpPr/>
          <p:nvPr/>
        </p:nvSpPr>
        <p:spPr>
          <a:xfrm>
            <a:off x="4517136" y="19202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1" name="Image 1" descr="/home/claude/groupA_pptx/icon_pyq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0867" y="2053971"/>
            <a:ext cx="326898" cy="32689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48656" y="1892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PyQt5</a:t>
            </a:r>
            <a:endParaRPr lang="fr-FR" sz="1450" noProof="0" dirty="0"/>
          </a:p>
        </p:txBody>
      </p:sp>
      <p:sp>
        <p:nvSpPr>
          <p:cNvPr id="13" name="Text 9"/>
          <p:cNvSpPr/>
          <p:nvPr/>
        </p:nvSpPr>
        <p:spPr>
          <a:xfrm>
            <a:off x="4517136" y="260604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fr-FR" sz="11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 avec PyQt5</a:t>
            </a:r>
            <a:endParaRPr lang="fr-FR" sz="1150" noProof="0" dirty="0"/>
          </a:p>
        </p:txBody>
      </p:sp>
      <p:sp>
        <p:nvSpPr>
          <p:cNvPr id="14" name="Shape 10"/>
          <p:cNvSpPr/>
          <p:nvPr/>
        </p:nvSpPr>
        <p:spPr>
          <a:xfrm>
            <a:off x="8129016" y="1691640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Shape 11"/>
          <p:cNvSpPr/>
          <p:nvPr/>
        </p:nvSpPr>
        <p:spPr>
          <a:xfrm>
            <a:off x="8357616" y="19202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6" name="Image 2" descr="/home/claude/groupA_pptx/icon_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347" y="2053971"/>
            <a:ext cx="326898" cy="32689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89136" y="1892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&amp; </a:t>
            </a:r>
            <a:r>
              <a:rPr lang="fr-FR" sz="1450" b="1" noProof="0" dirty="0" err="1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</a:t>
            </a:r>
            <a:endParaRPr lang="fr-FR" sz="1450" noProof="0" dirty="0"/>
          </a:p>
        </p:txBody>
      </p:sp>
      <p:sp>
        <p:nvSpPr>
          <p:cNvPr id="18" name="Text 13"/>
          <p:cNvSpPr/>
          <p:nvPr/>
        </p:nvSpPr>
        <p:spPr>
          <a:xfrm>
            <a:off x="8357616" y="260604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fr-FR" sz="11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Manipulation et traitement scientifique des données</a:t>
            </a:r>
            <a:endParaRPr lang="fr-FR" sz="1150" noProof="0" dirty="0"/>
          </a:p>
        </p:txBody>
      </p:sp>
      <p:sp>
        <p:nvSpPr>
          <p:cNvPr id="19" name="Shape 14"/>
          <p:cNvSpPr/>
          <p:nvPr/>
        </p:nvSpPr>
        <p:spPr>
          <a:xfrm>
            <a:off x="448056" y="3931920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Shape 15"/>
          <p:cNvSpPr/>
          <p:nvPr/>
        </p:nvSpPr>
        <p:spPr>
          <a:xfrm>
            <a:off x="676656" y="416052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1" name="Image 3" descr="/home/claude/groupA_pptx/icon_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387" y="4294251"/>
            <a:ext cx="326898" cy="32689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08176" y="41330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POO</a:t>
            </a:r>
            <a:endParaRPr lang="fr-FR" sz="1450" noProof="0" dirty="0"/>
          </a:p>
        </p:txBody>
      </p:sp>
      <p:sp>
        <p:nvSpPr>
          <p:cNvPr id="23" name="Text 17"/>
          <p:cNvSpPr/>
          <p:nvPr/>
        </p:nvSpPr>
        <p:spPr>
          <a:xfrm>
            <a:off x="676656" y="484632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fr-FR" sz="11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orienté objet, modulaire et documenté</a:t>
            </a:r>
            <a:endParaRPr lang="fr-FR" sz="1150" noProof="0" dirty="0"/>
          </a:p>
        </p:txBody>
      </p:sp>
      <p:sp>
        <p:nvSpPr>
          <p:cNvPr id="24" name="Shape 18"/>
          <p:cNvSpPr/>
          <p:nvPr/>
        </p:nvSpPr>
        <p:spPr>
          <a:xfrm>
            <a:off x="4288536" y="3931920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19"/>
          <p:cNvSpPr/>
          <p:nvPr/>
        </p:nvSpPr>
        <p:spPr>
          <a:xfrm>
            <a:off x="4517136" y="416052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6" name="Image 4" descr="/home/claude/groupA_pptx/icon_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0867" y="4294251"/>
            <a:ext cx="326898" cy="32689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48656" y="41330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PEP8 / PEP257</a:t>
            </a:r>
            <a:endParaRPr lang="fr-FR" sz="1450" noProof="0" dirty="0"/>
          </a:p>
        </p:txBody>
      </p:sp>
      <p:sp>
        <p:nvSpPr>
          <p:cNvPr id="28" name="Text 21"/>
          <p:cNvSpPr/>
          <p:nvPr/>
        </p:nvSpPr>
        <p:spPr>
          <a:xfrm>
            <a:off x="4517136" y="484632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fr-FR" sz="11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des conventions de codage Python</a:t>
            </a:r>
            <a:endParaRPr lang="fr-FR" sz="1150" noProof="0" dirty="0"/>
          </a:p>
        </p:txBody>
      </p:sp>
      <p:sp>
        <p:nvSpPr>
          <p:cNvPr id="29" name="Shape 22"/>
          <p:cNvSpPr/>
          <p:nvPr/>
        </p:nvSpPr>
        <p:spPr>
          <a:xfrm>
            <a:off x="8129016" y="3931920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Shape 23"/>
          <p:cNvSpPr/>
          <p:nvPr/>
        </p:nvSpPr>
        <p:spPr>
          <a:xfrm>
            <a:off x="8357616" y="416052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31" name="Image 5" descr="/home/claude/groupA_pptx/icon_g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1347" y="4294251"/>
            <a:ext cx="326898" cy="32689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89136" y="41330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fr-FR" sz="1450" noProof="0" dirty="0"/>
          </a:p>
        </p:txBody>
      </p:sp>
      <p:sp>
        <p:nvSpPr>
          <p:cNvPr id="33" name="Text 25"/>
          <p:cNvSpPr/>
          <p:nvPr/>
        </p:nvSpPr>
        <p:spPr>
          <a:xfrm>
            <a:off x="8357616" y="484632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fr-FR" sz="11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collaboratif et gestion de versions</a:t>
            </a:r>
            <a:endParaRPr lang="fr-FR" sz="1150" noProof="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35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utilisées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stack technique du module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621792" y="1691640"/>
            <a:ext cx="2057400" cy="411480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1284732" y="20116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mage 0" descr="/home/claude/groupA_pptx/icon_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24" y="217627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926080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fr-FR" sz="1500" noProof="0" dirty="0"/>
          </a:p>
        </p:txBody>
      </p:sp>
      <p:sp>
        <p:nvSpPr>
          <p:cNvPr id="8" name="Text 5"/>
          <p:cNvSpPr/>
          <p:nvPr/>
        </p:nvSpPr>
        <p:spPr>
          <a:xfrm>
            <a:off x="786384" y="3429000"/>
            <a:ext cx="172821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 principal, simple, lisible, vaste écosystème scientifique.</a:t>
            </a:r>
            <a:endParaRPr lang="fr-FR" sz="1100" noProof="0" dirty="0"/>
          </a:p>
        </p:txBody>
      </p:sp>
      <p:sp>
        <p:nvSpPr>
          <p:cNvPr id="9" name="Shape 6"/>
          <p:cNvSpPr/>
          <p:nvPr/>
        </p:nvSpPr>
        <p:spPr>
          <a:xfrm>
            <a:off x="2843784" y="1691640"/>
            <a:ext cx="2057400" cy="411480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Shape 7"/>
          <p:cNvSpPr/>
          <p:nvPr/>
        </p:nvSpPr>
        <p:spPr>
          <a:xfrm>
            <a:off x="3506724" y="20116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1" name="Image 1" descr="/home/claude/groupA_pptx/icon_pyq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1316" y="217627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53512" y="2926080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PyQt5</a:t>
            </a:r>
            <a:endParaRPr lang="fr-FR" sz="1500" noProof="0" dirty="0"/>
          </a:p>
        </p:txBody>
      </p:sp>
      <p:sp>
        <p:nvSpPr>
          <p:cNvPr id="13" name="Text 9"/>
          <p:cNvSpPr/>
          <p:nvPr/>
        </p:nvSpPr>
        <p:spPr>
          <a:xfrm>
            <a:off x="3008376" y="3429000"/>
            <a:ext cx="172821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graphique. Qt Designer sépare la partie graphique (.</a:t>
            </a:r>
            <a:r>
              <a:rPr lang="fr-FR" sz="1100" noProof="0" dirty="0" err="1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de la logique (.</a:t>
            </a:r>
            <a:r>
              <a:rPr lang="fr-FR" sz="1100" noProof="0" dirty="0" err="1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fr-FR" sz="1100" noProof="0" dirty="0"/>
          </a:p>
        </p:txBody>
      </p:sp>
      <p:sp>
        <p:nvSpPr>
          <p:cNvPr id="14" name="Shape 10"/>
          <p:cNvSpPr/>
          <p:nvPr/>
        </p:nvSpPr>
        <p:spPr>
          <a:xfrm>
            <a:off x="5065776" y="1691640"/>
            <a:ext cx="2057400" cy="411480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Shape 11"/>
          <p:cNvSpPr/>
          <p:nvPr/>
        </p:nvSpPr>
        <p:spPr>
          <a:xfrm>
            <a:off x="5728716" y="20116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6" name="Image 2" descr="/home/claude/groupA_pptx/icon_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3308" y="2176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75504" y="2926080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fr-FR" sz="1500" noProof="0" dirty="0"/>
          </a:p>
        </p:txBody>
      </p:sp>
      <p:sp>
        <p:nvSpPr>
          <p:cNvPr id="18" name="Text 13"/>
          <p:cNvSpPr/>
          <p:nvPr/>
        </p:nvSpPr>
        <p:spPr>
          <a:xfrm>
            <a:off x="5230368" y="3429000"/>
            <a:ext cx="172821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Manipulation et exploitation des fichiers </a:t>
            </a:r>
            <a:r>
              <a:rPr lang="fr-FR" b="1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fr-FR" sz="1100" noProof="0" dirty="0"/>
          </a:p>
        </p:txBody>
      </p:sp>
      <p:sp>
        <p:nvSpPr>
          <p:cNvPr id="19" name="Shape 14"/>
          <p:cNvSpPr/>
          <p:nvPr/>
        </p:nvSpPr>
        <p:spPr>
          <a:xfrm>
            <a:off x="7287768" y="1691640"/>
            <a:ext cx="2057400" cy="411480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Shape 15"/>
          <p:cNvSpPr/>
          <p:nvPr/>
        </p:nvSpPr>
        <p:spPr>
          <a:xfrm>
            <a:off x="7950708" y="20116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1" name="Image 3" descr="/home/claude/groupA_pptx/icon_sci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300" y="217627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97496" y="2926080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SciPy</a:t>
            </a:r>
            <a:endParaRPr lang="fr-FR" sz="1500" noProof="0" dirty="0"/>
          </a:p>
        </p:txBody>
      </p:sp>
      <p:sp>
        <p:nvSpPr>
          <p:cNvPr id="23" name="Text 17"/>
          <p:cNvSpPr/>
          <p:nvPr/>
        </p:nvSpPr>
        <p:spPr>
          <a:xfrm>
            <a:off x="7452360" y="3429000"/>
            <a:ext cx="172821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Traitements scientifiques et analyse avancée des signaux.</a:t>
            </a:r>
            <a:endParaRPr lang="fr-FR" sz="1100" noProof="0" dirty="0"/>
          </a:p>
        </p:txBody>
      </p:sp>
      <p:sp>
        <p:nvSpPr>
          <p:cNvPr id="24" name="Shape 18"/>
          <p:cNvSpPr/>
          <p:nvPr/>
        </p:nvSpPr>
        <p:spPr>
          <a:xfrm>
            <a:off x="9509760" y="1691640"/>
            <a:ext cx="2057400" cy="4114800"/>
          </a:xfrm>
          <a:prstGeom prst="roundRect">
            <a:avLst>
              <a:gd name="adj" fmla="val 3556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19"/>
          <p:cNvSpPr/>
          <p:nvPr/>
        </p:nvSpPr>
        <p:spPr>
          <a:xfrm>
            <a:off x="10172700" y="20116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6" name="Image 4" descr="/home/claude/groupA_pptx/icon_g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7292" y="2176272"/>
            <a:ext cx="402336" cy="40233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19488" y="2926080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fr-FR" sz="1500" noProof="0" dirty="0"/>
          </a:p>
        </p:txBody>
      </p:sp>
      <p:sp>
        <p:nvSpPr>
          <p:cNvPr id="28" name="Text 21"/>
          <p:cNvSpPr/>
          <p:nvPr/>
        </p:nvSpPr>
        <p:spPr>
          <a:xfrm>
            <a:off x="9674352" y="3429000"/>
            <a:ext cx="172821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fr-FR" sz="1100" noProof="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simultané, historique du projet, gestion des versions.</a:t>
            </a:r>
            <a:endParaRPr lang="fr-FR" sz="1100" noProof="0" dirty="0"/>
          </a:p>
        </p:txBody>
      </p:sp>
      <p:sp>
        <p:nvSpPr>
          <p:cNvPr id="29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30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91F775-778A-6810-15BA-9F12655B2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11B2E01-9D1A-CE3F-B526-A9A2D7EA1F77}"/>
              </a:ext>
            </a:extLst>
          </p:cNvPr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Répartition des Tâches</a:t>
            </a:r>
            <a:endParaRPr lang="fr-FR" sz="30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AA386D-00D3-5FE0-5359-48B59DD19CEC}"/>
              </a:ext>
            </a:extLst>
          </p:cNvPr>
          <p:cNvSpPr/>
          <p:nvPr/>
        </p:nvSpPr>
        <p:spPr>
          <a:xfrm>
            <a:off x="1268198" y="2400774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0EBDBCF-B213-6EF3-7B6F-76E4E59F5C25}"/>
              </a:ext>
            </a:extLst>
          </p:cNvPr>
          <p:cNvSpPr/>
          <p:nvPr/>
        </p:nvSpPr>
        <p:spPr>
          <a:xfrm>
            <a:off x="1793978" y="27461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de l’interface</a:t>
            </a:r>
            <a:endParaRPr lang="fr-FR" sz="1600" dirty="0"/>
          </a:p>
          <a:p>
            <a:pPr marL="0" indent="0">
              <a:buNone/>
            </a:pPr>
            <a:endParaRPr lang="fr-FR" sz="1450" noProof="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27A0346-5AF6-2098-96CC-8D6A99617990}"/>
              </a:ext>
            </a:extLst>
          </p:cNvPr>
          <p:cNvSpPr/>
          <p:nvPr/>
        </p:nvSpPr>
        <p:spPr>
          <a:xfrm>
            <a:off x="1496798" y="331517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fr-FR" sz="1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Manal</a:t>
            </a:r>
            <a:endParaRPr lang="fr-FR" sz="1150" noProof="0" dirty="0">
              <a:solidFill>
                <a:srgbClr val="002060"/>
              </a:solidFill>
            </a:endParaRPr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A551B991-3AE6-F311-09C5-C61BFC3A5390}"/>
              </a:ext>
            </a:extLst>
          </p:cNvPr>
          <p:cNvSpPr/>
          <p:nvPr/>
        </p:nvSpPr>
        <p:spPr>
          <a:xfrm>
            <a:off x="6858000" y="1012568"/>
            <a:ext cx="3611880" cy="5552133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201466E2-3008-E3A5-686B-7D53D6B6A662}"/>
              </a:ext>
            </a:extLst>
          </p:cNvPr>
          <p:cNvSpPr/>
          <p:nvPr/>
        </p:nvSpPr>
        <p:spPr>
          <a:xfrm>
            <a:off x="7431024" y="1222881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fr-FR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du main</a:t>
            </a:r>
            <a:endParaRPr lang="fr-FR" sz="1600" dirty="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8F3DE3D8-995F-C943-A46F-E641F75135EB}"/>
              </a:ext>
            </a:extLst>
          </p:cNvPr>
          <p:cNvSpPr/>
          <p:nvPr/>
        </p:nvSpPr>
        <p:spPr>
          <a:xfrm>
            <a:off x="7086600" y="1926969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fr-FR" sz="1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fr-FR" sz="1150" noProof="0" dirty="0">
              <a:solidFill>
                <a:srgbClr val="002060"/>
              </a:solidFill>
            </a:endParaRPr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31C60D3D-B131-09BA-1033-1D43A7CC742F}"/>
              </a:ext>
            </a:extLst>
          </p:cNvPr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66F64C85-4557-8CE6-F169-E794F4720B3D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FR" sz="900" noProof="0" dirty="0"/>
          </a:p>
        </p:txBody>
      </p:sp>
      <p:sp>
        <p:nvSpPr>
          <p:cNvPr id="55" name="Shape 10">
            <a:extLst>
              <a:ext uri="{FF2B5EF4-FFF2-40B4-BE49-F238E27FC236}">
                <a16:creationId xmlns:a16="http://schemas.microsoft.com/office/drawing/2014/main" id="{F1D3AF25-37E1-6A7F-7BF0-7FB25F7758C0}"/>
              </a:ext>
            </a:extLst>
          </p:cNvPr>
          <p:cNvSpPr/>
          <p:nvPr/>
        </p:nvSpPr>
        <p:spPr>
          <a:xfrm>
            <a:off x="6859524" y="2304028"/>
            <a:ext cx="3611880" cy="3837979"/>
          </a:xfrm>
          <a:prstGeom prst="roundRect">
            <a:avLst>
              <a:gd name="adj" fmla="val 3256"/>
            </a:avLst>
          </a:prstGeom>
          <a:solidFill>
            <a:schemeClr val="accent4">
              <a:lumMod val="20000"/>
              <a:lumOff val="80000"/>
            </a:schemeClr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7" name="Text 12">
            <a:extLst>
              <a:ext uri="{FF2B5EF4-FFF2-40B4-BE49-F238E27FC236}">
                <a16:creationId xmlns:a16="http://schemas.microsoft.com/office/drawing/2014/main" id="{B73C504F-3F8F-9F14-381E-1BE8BFB99894}"/>
              </a:ext>
            </a:extLst>
          </p:cNvPr>
          <p:cNvSpPr/>
          <p:nvPr/>
        </p:nvSpPr>
        <p:spPr>
          <a:xfrm>
            <a:off x="7660688" y="254751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la classe Signal</a:t>
            </a:r>
            <a:endParaRPr lang="fr-FR" sz="1450" noProof="0" dirty="0"/>
          </a:p>
        </p:txBody>
      </p:sp>
      <p:sp>
        <p:nvSpPr>
          <p:cNvPr id="59" name="Text 13">
            <a:extLst>
              <a:ext uri="{FF2B5EF4-FFF2-40B4-BE49-F238E27FC236}">
                <a16:creationId xmlns:a16="http://schemas.microsoft.com/office/drawing/2014/main" id="{138112E4-3712-EACF-63EA-8458BE3300EF}"/>
              </a:ext>
            </a:extLst>
          </p:cNvPr>
          <p:cNvSpPr/>
          <p:nvPr/>
        </p:nvSpPr>
        <p:spPr>
          <a:xfrm>
            <a:off x="7088124" y="32541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fr-FR" sz="1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</a:t>
            </a:r>
            <a:endParaRPr lang="fr-FR" sz="1150" noProof="0" dirty="0">
              <a:solidFill>
                <a:srgbClr val="002060"/>
              </a:solidFill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F4F3F832-80BF-DC4D-6756-7702B46EED09}"/>
              </a:ext>
            </a:extLst>
          </p:cNvPr>
          <p:cNvSpPr/>
          <p:nvPr/>
        </p:nvSpPr>
        <p:spPr>
          <a:xfrm>
            <a:off x="6856476" y="3812056"/>
            <a:ext cx="3611880" cy="1965960"/>
          </a:xfrm>
          <a:prstGeom prst="roundRect">
            <a:avLst>
              <a:gd name="adj" fmla="val 3256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1B8FA3D5-8247-C099-51AC-48E5077E9993}"/>
              </a:ext>
            </a:extLst>
          </p:cNvPr>
          <p:cNvSpPr/>
          <p:nvPr/>
        </p:nvSpPr>
        <p:spPr>
          <a:xfrm>
            <a:off x="7508115" y="400097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5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du fichier de sortie</a:t>
            </a:r>
            <a:endParaRPr lang="fr-FR" sz="1450" noProof="0" dirty="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2788812D-CCE8-323B-483F-295081B6431D}"/>
              </a:ext>
            </a:extLst>
          </p:cNvPr>
          <p:cNvSpPr/>
          <p:nvPr/>
        </p:nvSpPr>
        <p:spPr>
          <a:xfrm>
            <a:off x="7085076" y="4726456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fr-FR" sz="1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</a:t>
            </a:r>
            <a:endParaRPr lang="fr-FR" sz="1150" noProof="0" dirty="0">
              <a:solidFill>
                <a:srgbClr val="002060"/>
              </a:solidFill>
            </a:endParaRPr>
          </a:p>
        </p:txBody>
      </p:sp>
      <p:sp>
        <p:nvSpPr>
          <p:cNvPr id="60" name="Flèche : double flèche horizontale 59">
            <a:extLst>
              <a:ext uri="{FF2B5EF4-FFF2-40B4-BE49-F238E27FC236}">
                <a16:creationId xmlns:a16="http://schemas.microsoft.com/office/drawing/2014/main" id="{9F71B8DC-85AB-A556-C9D2-909F1387A59A}"/>
              </a:ext>
            </a:extLst>
          </p:cNvPr>
          <p:cNvSpPr/>
          <p:nvPr/>
        </p:nvSpPr>
        <p:spPr>
          <a:xfrm>
            <a:off x="4873982" y="2708068"/>
            <a:ext cx="1988590" cy="135137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7757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Fonctionnement du module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sélection du fichier CSV aux résultats affichés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2642616" y="2194560"/>
            <a:ext cx="1828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1202436" y="17830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120243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FR" sz="2200" noProof="0" dirty="0"/>
          </a:p>
        </p:txBody>
      </p:sp>
      <p:sp>
        <p:nvSpPr>
          <p:cNvPr id="7" name="Shape 5"/>
          <p:cNvSpPr/>
          <p:nvPr/>
        </p:nvSpPr>
        <p:spPr>
          <a:xfrm>
            <a:off x="585216" y="2834640"/>
            <a:ext cx="2057400" cy="2148840"/>
          </a:xfrm>
          <a:prstGeom prst="roundRect">
            <a:avLst>
              <a:gd name="adj" fmla="val 3111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676656" y="2971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Sélection</a:t>
            </a:r>
            <a:endParaRPr lang="fr-FR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722376" y="3383280"/>
            <a:ext cx="1783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0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sélectionne un fichier CSV contenant un signal.</a:t>
            </a:r>
            <a:endParaRPr lang="fr-FR" sz="1050" noProof="0" dirty="0"/>
          </a:p>
        </p:txBody>
      </p:sp>
      <p:sp>
        <p:nvSpPr>
          <p:cNvPr id="10" name="Shape 8"/>
          <p:cNvSpPr/>
          <p:nvPr/>
        </p:nvSpPr>
        <p:spPr>
          <a:xfrm>
            <a:off x="4882896" y="2194560"/>
            <a:ext cx="1828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9"/>
          <p:cNvSpPr/>
          <p:nvPr/>
        </p:nvSpPr>
        <p:spPr>
          <a:xfrm>
            <a:off x="3442716" y="17830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344271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FR" sz="2200" noProof="0" dirty="0"/>
          </a:p>
        </p:txBody>
      </p:sp>
      <p:sp>
        <p:nvSpPr>
          <p:cNvPr id="13" name="Shape 11"/>
          <p:cNvSpPr/>
          <p:nvPr/>
        </p:nvSpPr>
        <p:spPr>
          <a:xfrm>
            <a:off x="2825496" y="2834640"/>
            <a:ext cx="2057400" cy="2148840"/>
          </a:xfrm>
          <a:prstGeom prst="roundRect">
            <a:avLst>
              <a:gd name="adj" fmla="val 3111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2916936" y="2971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Chargement</a:t>
            </a:r>
            <a:endParaRPr lang="fr-F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2962656" y="3383280"/>
            <a:ext cx="1783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0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charge les données du fichier.</a:t>
            </a:r>
            <a:endParaRPr lang="fr-FR" sz="1050" noProof="0" dirty="0"/>
          </a:p>
        </p:txBody>
      </p:sp>
      <p:sp>
        <p:nvSpPr>
          <p:cNvPr id="16" name="Shape 14"/>
          <p:cNvSpPr/>
          <p:nvPr/>
        </p:nvSpPr>
        <p:spPr>
          <a:xfrm>
            <a:off x="7123176" y="2194560"/>
            <a:ext cx="1828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5682996" y="17830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568299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FR" sz="2200" noProof="0" dirty="0"/>
          </a:p>
        </p:txBody>
      </p:sp>
      <p:sp>
        <p:nvSpPr>
          <p:cNvPr id="19" name="Shape 17"/>
          <p:cNvSpPr/>
          <p:nvPr/>
        </p:nvSpPr>
        <p:spPr>
          <a:xfrm>
            <a:off x="5065776" y="2834640"/>
            <a:ext cx="2057400" cy="2148840"/>
          </a:xfrm>
          <a:prstGeom prst="roundRect">
            <a:avLst>
              <a:gd name="adj" fmla="val 3111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8"/>
          <p:cNvSpPr/>
          <p:nvPr/>
        </p:nvSpPr>
        <p:spPr>
          <a:xfrm>
            <a:off x="5157216" y="2971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fr-FR" sz="1400" noProof="0" dirty="0"/>
          </a:p>
        </p:txBody>
      </p:sp>
      <p:sp>
        <p:nvSpPr>
          <p:cNvPr id="21" name="Text 19"/>
          <p:cNvSpPr/>
          <p:nvPr/>
        </p:nvSpPr>
        <p:spPr>
          <a:xfrm>
            <a:off x="5202936" y="3383280"/>
            <a:ext cx="1783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0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du vecteur temps et des échantillons du signal.</a:t>
            </a:r>
            <a:endParaRPr lang="fr-FR" sz="1050" noProof="0" dirty="0"/>
          </a:p>
        </p:txBody>
      </p:sp>
      <p:sp>
        <p:nvSpPr>
          <p:cNvPr id="22" name="Shape 20"/>
          <p:cNvSpPr/>
          <p:nvPr/>
        </p:nvSpPr>
        <p:spPr>
          <a:xfrm>
            <a:off x="9363456" y="2194560"/>
            <a:ext cx="1828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21"/>
          <p:cNvSpPr/>
          <p:nvPr/>
        </p:nvSpPr>
        <p:spPr>
          <a:xfrm>
            <a:off x="7923276" y="17830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/>
          <p:cNvSpPr/>
          <p:nvPr/>
        </p:nvSpPr>
        <p:spPr>
          <a:xfrm>
            <a:off x="792327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FR" sz="2200" noProof="0" dirty="0"/>
          </a:p>
        </p:txBody>
      </p:sp>
      <p:sp>
        <p:nvSpPr>
          <p:cNvPr id="25" name="Shape 23"/>
          <p:cNvSpPr/>
          <p:nvPr/>
        </p:nvSpPr>
        <p:spPr>
          <a:xfrm>
            <a:off x="7306056" y="2834640"/>
            <a:ext cx="2057400" cy="2148840"/>
          </a:xfrm>
          <a:prstGeom prst="roundRect">
            <a:avLst>
              <a:gd name="adj" fmla="val 3111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7397496" y="2971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</a:t>
            </a:r>
            <a:endParaRPr lang="fr-FR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7443216" y="3383280"/>
            <a:ext cx="1783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0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d'échantillonnage, durée, nombre d'échantillons, date de traitement.</a:t>
            </a:r>
            <a:endParaRPr lang="fr-FR" sz="1050" noProof="0" dirty="0"/>
          </a:p>
        </p:txBody>
      </p:sp>
      <p:sp>
        <p:nvSpPr>
          <p:cNvPr id="28" name="Shape 26"/>
          <p:cNvSpPr/>
          <p:nvPr/>
        </p:nvSpPr>
        <p:spPr>
          <a:xfrm>
            <a:off x="10163556" y="17830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1016355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2200" noProof="0" dirty="0"/>
          </a:p>
        </p:txBody>
      </p:sp>
      <p:sp>
        <p:nvSpPr>
          <p:cNvPr id="30" name="Shape 28"/>
          <p:cNvSpPr/>
          <p:nvPr/>
        </p:nvSpPr>
        <p:spPr>
          <a:xfrm>
            <a:off x="9546336" y="2834640"/>
            <a:ext cx="2057400" cy="2148840"/>
          </a:xfrm>
          <a:prstGeom prst="roundRect">
            <a:avLst>
              <a:gd name="adj" fmla="val 3111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9637776" y="2971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Affichage</a:t>
            </a:r>
            <a:endParaRPr lang="fr-FR" sz="1400" noProof="0" dirty="0"/>
          </a:p>
        </p:txBody>
      </p:sp>
      <p:sp>
        <p:nvSpPr>
          <p:cNvPr id="32" name="Text 30"/>
          <p:cNvSpPr/>
          <p:nvPr/>
        </p:nvSpPr>
        <p:spPr>
          <a:xfrm>
            <a:off x="9683496" y="3383280"/>
            <a:ext cx="1783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0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résultats sont affichés dans l'interface graphique.</a:t>
            </a:r>
            <a:endParaRPr lang="fr-FR" sz="1050" noProof="0" dirty="0"/>
          </a:p>
        </p:txBody>
      </p:sp>
      <p:sp>
        <p:nvSpPr>
          <p:cNvPr id="33" name="Text 31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peut également renseigner le type et la source du signal.</a:t>
            </a:r>
            <a:endParaRPr lang="fr-FR" sz="1300" noProof="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35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865462-5C8D-6747-2BED-A8707375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7E65A11-7308-F239-3C8A-389F3B183D55}"/>
              </a:ext>
            </a:extLst>
          </p:cNvPr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</a:t>
            </a:r>
            <a:endParaRPr lang="fr-FR" sz="3000" noProof="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9D6F22D-C8A9-DA68-8C87-DE7B636C98A9}"/>
              </a:ext>
            </a:extLst>
          </p:cNvPr>
          <p:cNvSpPr/>
          <p:nvPr/>
        </p:nvSpPr>
        <p:spPr>
          <a:xfrm>
            <a:off x="10163556" y="17830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770B111C-83C4-F651-0029-99F829B3619A}"/>
              </a:ext>
            </a:extLst>
          </p:cNvPr>
          <p:cNvSpPr/>
          <p:nvPr/>
        </p:nvSpPr>
        <p:spPr>
          <a:xfrm>
            <a:off x="1016355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2200" noProof="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0D8BD1C-BB87-4D21-1C00-5DC0C34CF67D}"/>
              </a:ext>
            </a:extLst>
          </p:cNvPr>
          <p:cNvSpPr/>
          <p:nvPr/>
        </p:nvSpPr>
        <p:spPr>
          <a:xfrm>
            <a:off x="9546336" y="2834640"/>
            <a:ext cx="2057400" cy="2148840"/>
          </a:xfrm>
          <a:prstGeom prst="roundRect">
            <a:avLst>
              <a:gd name="adj" fmla="val 3111"/>
            </a:avLst>
          </a:prstGeom>
          <a:solidFill>
            <a:srgbClr val="EAF4F8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98A65DCD-4778-8B1B-2EE1-5762A3D692AA}"/>
              </a:ext>
            </a:extLst>
          </p:cNvPr>
          <p:cNvSpPr/>
          <p:nvPr/>
        </p:nvSpPr>
        <p:spPr>
          <a:xfrm>
            <a:off x="9637776" y="2971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Affichage</a:t>
            </a:r>
            <a:endParaRPr lang="fr-FR" sz="1400" noProof="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43231CF-6042-39B1-2E2B-E3F72B212FA5}"/>
              </a:ext>
            </a:extLst>
          </p:cNvPr>
          <p:cNvSpPr/>
          <p:nvPr/>
        </p:nvSpPr>
        <p:spPr>
          <a:xfrm>
            <a:off x="9683496" y="3383280"/>
            <a:ext cx="1783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0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résultats sont affichés dans l'interface graphique.</a:t>
            </a:r>
            <a:endParaRPr lang="fr-FR" sz="1050" noProof="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B35BBE6-3706-94F4-84AF-767CAEDCC3E0}"/>
              </a:ext>
            </a:extLst>
          </p:cNvPr>
          <p:cNvSpPr/>
          <p:nvPr/>
        </p:nvSpPr>
        <p:spPr>
          <a:xfrm>
            <a:off x="548640" y="573225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peut également renseigner le type et la source du signal.</a:t>
            </a:r>
            <a:endParaRPr lang="fr-FR" sz="1300" noProof="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0DA01553-767B-3C87-1B69-3FFA3D752411}"/>
              </a:ext>
            </a:extLst>
          </p:cNvPr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3B189040-2017-B3FD-7EB9-C07B80CA066B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900" noProof="0" dirty="0"/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7A108B33-1429-40E0-4940-7E184CF0CC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25" t="1417"/>
          <a:stretch>
            <a:fillRect/>
          </a:stretch>
        </p:blipFill>
        <p:spPr>
          <a:xfrm>
            <a:off x="679704" y="1225753"/>
            <a:ext cx="6012611" cy="431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684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de programmation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architecture orientée objet autour de deux classes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470916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11196" y="20116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mage 0" descr="/home/claude/groupA_pptx/icon_userc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936" y="22174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5236" y="3108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900" b="1" noProof="0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MainWindow</a:t>
            </a:r>
            <a:endParaRPr lang="fr-FR" sz="1900" noProof="0" dirty="0"/>
          </a:p>
        </p:txBody>
      </p:sp>
      <p:sp>
        <p:nvSpPr>
          <p:cNvPr id="8" name="Text 5"/>
          <p:cNvSpPr/>
          <p:nvPr/>
        </p:nvSpPr>
        <p:spPr>
          <a:xfrm>
            <a:off x="1019556" y="3749040"/>
            <a:ext cx="4297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fr-FR" sz="13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l'interface graphique</a:t>
            </a:r>
            <a:endParaRPr lang="fr-FR" sz="1350" noProof="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fr-FR" sz="13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interactions utilisateur</a:t>
            </a:r>
            <a:endParaRPr lang="fr-FR" sz="1350" noProof="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fr-FR" sz="13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 les boutons aux traitements</a:t>
            </a:r>
            <a:endParaRPr lang="fr-FR" sz="1350" noProof="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6323076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Shape 7"/>
          <p:cNvSpPr/>
          <p:nvPr/>
        </p:nvSpPr>
        <p:spPr>
          <a:xfrm>
            <a:off x="8563356" y="20116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1" name="Image 1" descr="/home/claude/groupA_pptx/icon_sig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9096" y="221742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97396" y="3108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900" b="1" noProof="0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MonSignalGrpA</a:t>
            </a:r>
            <a:endParaRPr lang="fr-FR" sz="1900" noProof="0" dirty="0"/>
          </a:p>
        </p:txBody>
      </p:sp>
      <p:sp>
        <p:nvSpPr>
          <p:cNvPr id="13" name="Text 9"/>
          <p:cNvSpPr/>
          <p:nvPr/>
        </p:nvSpPr>
        <p:spPr>
          <a:xfrm>
            <a:off x="6871716" y="3749040"/>
            <a:ext cx="4297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fr-FR" sz="13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 le signal</a:t>
            </a:r>
            <a:endParaRPr lang="fr-FR" sz="1350" noProof="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fr-FR" sz="13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les données du signal</a:t>
            </a:r>
            <a:endParaRPr lang="fr-FR" sz="1350" noProof="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fr-FR" sz="13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les méthodes d'acquisition et de traitement</a:t>
            </a:r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fr-FR" sz="1350" dirty="0">
                <a:solidFill>
                  <a:schemeClr val="bg1"/>
                </a:solidFill>
              </a:rPr>
              <a:t>Génération du fichier de sortie</a:t>
            </a:r>
            <a:endParaRPr lang="fr-FR" sz="1350" noProof="0" dirty="0">
              <a:solidFill>
                <a:schemeClr val="bg1"/>
              </a:solidFill>
            </a:endParaRPr>
          </a:p>
        </p:txBody>
      </p:sp>
      <p:sp>
        <p:nvSpPr>
          <p:cNvPr id="14" name="Text 10"/>
          <p:cNvSpPr/>
          <p:nvPr/>
        </p:nvSpPr>
        <p:spPr>
          <a:xfrm>
            <a:off x="548640" y="6080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séparation améliore la lisibilité du code et facilite sa maintenance.</a:t>
            </a:r>
            <a:endParaRPr lang="fr-FR" sz="1300" noProof="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16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Répartition du travail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travail réparti et centralisé grâce à Git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470916" y="1828800"/>
            <a:ext cx="5440680" cy="960120"/>
          </a:xfrm>
          <a:prstGeom prst="roundRect">
            <a:avLst>
              <a:gd name="adj" fmla="val 6667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635508" y="19659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mage 0" descr="/home/claude/groupA_pptx/icon_pyq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39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5316" y="182880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de l'interface graphique</a:t>
            </a:r>
            <a:endParaRPr lang="fr-FR" sz="1350" noProof="0" dirty="0"/>
          </a:p>
        </p:txBody>
      </p:sp>
      <p:sp>
        <p:nvSpPr>
          <p:cNvPr id="8" name="Shape 5"/>
          <p:cNvSpPr/>
          <p:nvPr/>
        </p:nvSpPr>
        <p:spPr>
          <a:xfrm>
            <a:off x="6277356" y="1828800"/>
            <a:ext cx="5440680" cy="960120"/>
          </a:xfrm>
          <a:prstGeom prst="roundRect">
            <a:avLst>
              <a:gd name="adj" fmla="val 6667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6"/>
          <p:cNvSpPr/>
          <p:nvPr/>
        </p:nvSpPr>
        <p:spPr>
          <a:xfrm>
            <a:off x="6441948" y="19659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0" name="Image 1" descr="/home/claude/groupA_pptx/icon_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79" y="2099691"/>
            <a:ext cx="326898" cy="32689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91756" y="182880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des classes Python</a:t>
            </a:r>
            <a:endParaRPr lang="fr-FR" sz="1350" noProof="0" dirty="0"/>
          </a:p>
        </p:txBody>
      </p:sp>
      <p:sp>
        <p:nvSpPr>
          <p:cNvPr id="12" name="Shape 8"/>
          <p:cNvSpPr/>
          <p:nvPr/>
        </p:nvSpPr>
        <p:spPr>
          <a:xfrm>
            <a:off x="470916" y="3063240"/>
            <a:ext cx="5440680" cy="960120"/>
          </a:xfrm>
          <a:prstGeom prst="roundRect">
            <a:avLst>
              <a:gd name="adj" fmla="val 6667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9"/>
          <p:cNvSpPr/>
          <p:nvPr/>
        </p:nvSpPr>
        <p:spPr>
          <a:xfrm>
            <a:off x="635508" y="320040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4" name="Image 2" descr="/home/claude/groupA_pptx/icon_cs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239" y="3334131"/>
            <a:ext cx="326898" cy="32689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85316" y="30632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fichiers CSV</a:t>
            </a:r>
            <a:endParaRPr lang="fr-FR" sz="1350" noProof="0" dirty="0"/>
          </a:p>
        </p:txBody>
      </p:sp>
      <p:sp>
        <p:nvSpPr>
          <p:cNvPr id="16" name="Shape 11"/>
          <p:cNvSpPr/>
          <p:nvPr/>
        </p:nvSpPr>
        <p:spPr>
          <a:xfrm>
            <a:off x="6277356" y="3063240"/>
            <a:ext cx="5440680" cy="960120"/>
          </a:xfrm>
          <a:prstGeom prst="roundRect">
            <a:avLst>
              <a:gd name="adj" fmla="val 6667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2"/>
          <p:cNvSpPr/>
          <p:nvPr/>
        </p:nvSpPr>
        <p:spPr>
          <a:xfrm>
            <a:off x="6441948" y="320040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8" name="Image 3" descr="/home/claude/groupA_pptx/icon_c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5679" y="3334131"/>
            <a:ext cx="326898" cy="32689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91756" y="30632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des caractéristiques du signal</a:t>
            </a:r>
            <a:endParaRPr lang="fr-FR" sz="1350" noProof="0" dirty="0"/>
          </a:p>
        </p:txBody>
      </p:sp>
      <p:sp>
        <p:nvSpPr>
          <p:cNvPr id="20" name="Shape 14"/>
          <p:cNvSpPr/>
          <p:nvPr/>
        </p:nvSpPr>
        <p:spPr>
          <a:xfrm>
            <a:off x="470916" y="4297680"/>
            <a:ext cx="5440680" cy="960120"/>
          </a:xfrm>
          <a:prstGeom prst="roundRect">
            <a:avLst>
              <a:gd name="adj" fmla="val 6667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5"/>
          <p:cNvSpPr/>
          <p:nvPr/>
        </p:nvSpPr>
        <p:spPr>
          <a:xfrm>
            <a:off x="635508" y="44348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2" name="Image 4" descr="/home/claude/groupA_pptx/icon_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239" y="4568571"/>
            <a:ext cx="326898" cy="32689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85316" y="429768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fr-FR" sz="1350" noProof="0" dirty="0"/>
          </a:p>
        </p:txBody>
      </p:sp>
      <p:sp>
        <p:nvSpPr>
          <p:cNvPr id="24" name="Shape 17"/>
          <p:cNvSpPr/>
          <p:nvPr/>
        </p:nvSpPr>
        <p:spPr>
          <a:xfrm>
            <a:off x="6277356" y="4297680"/>
            <a:ext cx="5440680" cy="960120"/>
          </a:xfrm>
          <a:prstGeom prst="roundRect">
            <a:avLst>
              <a:gd name="adj" fmla="val 6667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18"/>
          <p:cNvSpPr/>
          <p:nvPr/>
        </p:nvSpPr>
        <p:spPr>
          <a:xfrm>
            <a:off x="6441948" y="44348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6" name="Image 5" descr="/home/claude/groupA_pptx/icon_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5679" y="4568571"/>
            <a:ext cx="326898" cy="32689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191756" y="429768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et tests</a:t>
            </a:r>
            <a:endParaRPr lang="fr-FR" sz="1350" noProof="0" dirty="0"/>
          </a:p>
        </p:txBody>
      </p:sp>
      <p:sp>
        <p:nvSpPr>
          <p:cNvPr id="28" name="Shape 20"/>
          <p:cNvSpPr/>
          <p:nvPr/>
        </p:nvSpPr>
        <p:spPr>
          <a:xfrm>
            <a:off x="470916" y="5577840"/>
            <a:ext cx="11247120" cy="685800"/>
          </a:xfrm>
          <a:prstGeom prst="roundRect">
            <a:avLst>
              <a:gd name="adj" fmla="val 9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Shape 21"/>
          <p:cNvSpPr/>
          <p:nvPr/>
        </p:nvSpPr>
        <p:spPr>
          <a:xfrm>
            <a:off x="635508" y="569671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30" name="Image 6" descr="/home/claude/groupA_pptx/icon_tea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8378" y="5799582"/>
            <a:ext cx="251460" cy="25146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248156" y="557784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50" i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 permis de centraliser les développements et de suivre les contributions de chacun.</a:t>
            </a:r>
            <a:endParaRPr lang="fr-FR" sz="1250" noProof="0" dirty="0"/>
          </a:p>
        </p:txBody>
      </p:sp>
      <p:sp>
        <p:nvSpPr>
          <p:cNvPr id="32" name="Text 2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33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Difficultés rencontrées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obstacles progressivement résolus par les tests et le travail collaboratif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1097280" y="18745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5" name="Image 0" descr="/home/claude/groupA_pptx/icon_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437" y="1987677"/>
            <a:ext cx="276606" cy="2766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82880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 en main de PyQt5</a:t>
            </a:r>
            <a:endParaRPr lang="fr-FR" sz="1500" noProof="0" dirty="0"/>
          </a:p>
        </p:txBody>
      </p:sp>
      <p:sp>
        <p:nvSpPr>
          <p:cNvPr id="7" name="Shape 4"/>
          <p:cNvSpPr/>
          <p:nvPr/>
        </p:nvSpPr>
        <p:spPr>
          <a:xfrm>
            <a:off x="1097280" y="277063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8" name="Image 1" descr="/home/claude/groupA_pptx/icon_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437" y="2883789"/>
            <a:ext cx="276606" cy="2766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28800" y="2724912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événements graphiques</a:t>
            </a:r>
            <a:endParaRPr lang="fr-FR" sz="1500" noProof="0" dirty="0"/>
          </a:p>
        </p:txBody>
      </p:sp>
      <p:sp>
        <p:nvSpPr>
          <p:cNvPr id="10" name="Shape 6"/>
          <p:cNvSpPr/>
          <p:nvPr/>
        </p:nvSpPr>
        <p:spPr>
          <a:xfrm>
            <a:off x="1097280" y="366674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1" name="Image 2" descr="/home/claude/groupA_pptx/icon_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437" y="3779901"/>
            <a:ext cx="276606" cy="27660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828800" y="3621024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sécurisée des fichiers CSV</a:t>
            </a:r>
            <a:endParaRPr lang="fr-FR" sz="1500" noProof="0" dirty="0"/>
          </a:p>
        </p:txBody>
      </p:sp>
      <p:sp>
        <p:nvSpPr>
          <p:cNvPr id="13" name="Shape 8"/>
          <p:cNvSpPr/>
          <p:nvPr/>
        </p:nvSpPr>
        <p:spPr>
          <a:xfrm>
            <a:off x="1097280" y="456285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4" name="Image 3" descr="/home/claude/groupA_pptx/icon_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437" y="4676013"/>
            <a:ext cx="276606" cy="27660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828800" y="4517136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des normes PEP8</a:t>
            </a:r>
            <a:endParaRPr lang="fr-FR" sz="1500" noProof="0" dirty="0"/>
          </a:p>
        </p:txBody>
      </p:sp>
      <p:sp>
        <p:nvSpPr>
          <p:cNvPr id="16" name="Shape 10"/>
          <p:cNvSpPr/>
          <p:nvPr/>
        </p:nvSpPr>
        <p:spPr>
          <a:xfrm>
            <a:off x="1097280" y="54589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7" name="Image 4" descr="/home/claude/groupA_pptx/icon_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437" y="5572125"/>
            <a:ext cx="276606" cy="27660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828800" y="5413248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des parties développées par chaque membre</a:t>
            </a:r>
            <a:endParaRPr lang="fr-FR" sz="1500" noProof="0" dirty="0"/>
          </a:p>
        </p:txBody>
      </p:sp>
      <p:sp>
        <p:nvSpPr>
          <p:cNvPr id="19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20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du fichier de sortie</a:t>
            </a:r>
            <a:endParaRPr lang="fr-FR" sz="30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format CSV : simple, compatible, lisible</a:t>
            </a:r>
            <a:endParaRPr lang="fr-FR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4343400"/>
          </a:xfrm>
          <a:prstGeom prst="roundRect">
            <a:avLst>
              <a:gd name="adj" fmla="val 1684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868680" y="1965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mage 0" descr="/home/claude/groupA_pptx/icon_cs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85" y="212026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0299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700" b="1" noProof="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Avantages du CSV</a:t>
            </a:r>
            <a:endParaRPr lang="fr-FR" sz="1700" noProof="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fr-FR" sz="14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</a:t>
            </a:r>
            <a:endParaRPr lang="fr-FR" sz="1450" noProof="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fr-FR" sz="14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Compatibilité</a:t>
            </a:r>
            <a:endParaRPr lang="fr-FR" sz="1450" noProof="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fr-FR" sz="1450" noProof="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Facilité de lecture par les autres groupes</a:t>
            </a:r>
            <a:endParaRPr lang="fr-FR" sz="1450" noProof="0" dirty="0"/>
          </a:p>
        </p:txBody>
      </p:sp>
      <p:sp>
        <p:nvSpPr>
          <p:cNvPr id="9" name="Text 6"/>
          <p:cNvSpPr/>
          <p:nvPr/>
        </p:nvSpPr>
        <p:spPr>
          <a:xfrm>
            <a:off x="868680" y="45262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fr-FR" sz="1250" i="1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première ligne du fichier correspond à l'en-tête des colonnes.</a:t>
            </a:r>
            <a:endParaRPr lang="fr-FR" sz="1250" noProof="0" dirty="0"/>
          </a:p>
        </p:txBody>
      </p:sp>
      <p:sp>
        <p:nvSpPr>
          <p:cNvPr id="10" name="Shape 7"/>
          <p:cNvSpPr/>
          <p:nvPr/>
        </p:nvSpPr>
        <p:spPr>
          <a:xfrm>
            <a:off x="5989320" y="1691640"/>
            <a:ext cx="5650992" cy="4343400"/>
          </a:xfrm>
          <a:prstGeom prst="roundRect">
            <a:avLst>
              <a:gd name="adj" fmla="val 1684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8"/>
          <p:cNvSpPr/>
          <p:nvPr/>
        </p:nvSpPr>
        <p:spPr>
          <a:xfrm>
            <a:off x="6263640" y="1920240"/>
            <a:ext cx="5102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55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Informations enregistrées</a:t>
            </a:r>
            <a:endParaRPr lang="fr-FR" sz="1550" noProof="0" dirty="0"/>
          </a:p>
        </p:txBody>
      </p:sp>
      <p:sp>
        <p:nvSpPr>
          <p:cNvPr id="12" name="Shape 9"/>
          <p:cNvSpPr/>
          <p:nvPr/>
        </p:nvSpPr>
        <p:spPr>
          <a:xfrm>
            <a:off x="6263640" y="2468880"/>
            <a:ext cx="5102352" cy="493776"/>
          </a:xfrm>
          <a:prstGeom prst="rect">
            <a:avLst/>
          </a:prstGeom>
          <a:solidFill>
            <a:srgbClr val="0A6F9E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0"/>
          <p:cNvSpPr/>
          <p:nvPr/>
        </p:nvSpPr>
        <p:spPr>
          <a:xfrm>
            <a:off x="6492240" y="2468880"/>
            <a:ext cx="4645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fr-FR" sz="1300" noProof="0" dirty="0"/>
          </a:p>
        </p:txBody>
      </p:sp>
      <p:sp>
        <p:nvSpPr>
          <p:cNvPr id="14" name="Shape 11"/>
          <p:cNvSpPr/>
          <p:nvPr/>
        </p:nvSpPr>
        <p:spPr>
          <a:xfrm>
            <a:off x="6263640" y="3035808"/>
            <a:ext cx="5102352" cy="493776"/>
          </a:xfrm>
          <a:prstGeom prst="rect">
            <a:avLst/>
          </a:prstGeom>
          <a:solidFill>
            <a:srgbClr val="0B7CAF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2"/>
          <p:cNvSpPr/>
          <p:nvPr/>
        </p:nvSpPr>
        <p:spPr>
          <a:xfrm>
            <a:off x="6492240" y="3035808"/>
            <a:ext cx="4645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fr-FR" sz="1300" noProof="0" dirty="0"/>
          </a:p>
        </p:txBody>
      </p:sp>
      <p:sp>
        <p:nvSpPr>
          <p:cNvPr id="16" name="Shape 13"/>
          <p:cNvSpPr/>
          <p:nvPr/>
        </p:nvSpPr>
        <p:spPr>
          <a:xfrm>
            <a:off x="6263640" y="3602736"/>
            <a:ext cx="5102352" cy="493776"/>
          </a:xfrm>
          <a:prstGeom prst="rect">
            <a:avLst/>
          </a:prstGeom>
          <a:solidFill>
            <a:srgbClr val="0A6F9E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 14"/>
          <p:cNvSpPr/>
          <p:nvPr/>
        </p:nvSpPr>
        <p:spPr>
          <a:xfrm>
            <a:off x="6492240" y="3602736"/>
            <a:ext cx="4645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d'</a:t>
            </a:r>
            <a:r>
              <a:rPr lang="fr-FR" sz="130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</a:t>
            </a:r>
            <a:r>
              <a:rPr lang="fr-F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fr-FR" sz="1300" noProof="0" dirty="0"/>
          </a:p>
        </p:txBody>
      </p:sp>
      <p:sp>
        <p:nvSpPr>
          <p:cNvPr id="18" name="Shape 15"/>
          <p:cNvSpPr/>
          <p:nvPr/>
        </p:nvSpPr>
        <p:spPr>
          <a:xfrm>
            <a:off x="6263640" y="4169664"/>
            <a:ext cx="5102352" cy="493776"/>
          </a:xfrm>
          <a:prstGeom prst="rect">
            <a:avLst/>
          </a:prstGeom>
          <a:solidFill>
            <a:srgbClr val="0B7CAF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Text 16"/>
          <p:cNvSpPr/>
          <p:nvPr/>
        </p:nvSpPr>
        <p:spPr>
          <a:xfrm>
            <a:off x="6492240" y="4169664"/>
            <a:ext cx="4645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fr-FR" sz="1300" noProof="0" dirty="0"/>
          </a:p>
        </p:txBody>
      </p:sp>
      <p:sp>
        <p:nvSpPr>
          <p:cNvPr id="20" name="Shape 17"/>
          <p:cNvSpPr/>
          <p:nvPr/>
        </p:nvSpPr>
        <p:spPr>
          <a:xfrm>
            <a:off x="6263640" y="4736592"/>
            <a:ext cx="5102352" cy="493776"/>
          </a:xfrm>
          <a:prstGeom prst="rect">
            <a:avLst/>
          </a:prstGeom>
          <a:solidFill>
            <a:srgbClr val="0A6F9E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8"/>
          <p:cNvSpPr/>
          <p:nvPr/>
        </p:nvSpPr>
        <p:spPr>
          <a:xfrm>
            <a:off x="6492240" y="4736592"/>
            <a:ext cx="4645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échant.</a:t>
            </a:r>
            <a:endParaRPr lang="fr-FR" sz="1300" noProof="0" dirty="0"/>
          </a:p>
        </p:txBody>
      </p:sp>
      <p:sp>
        <p:nvSpPr>
          <p:cNvPr id="22" name="Shape 19"/>
          <p:cNvSpPr/>
          <p:nvPr/>
        </p:nvSpPr>
        <p:spPr>
          <a:xfrm>
            <a:off x="6263640" y="5303520"/>
            <a:ext cx="5102352" cy="493776"/>
          </a:xfrm>
          <a:prstGeom prst="rect">
            <a:avLst/>
          </a:prstGeom>
          <a:solidFill>
            <a:srgbClr val="0B7CAF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20"/>
          <p:cNvSpPr/>
          <p:nvPr/>
        </p:nvSpPr>
        <p:spPr>
          <a:xfrm>
            <a:off x="6492240" y="5303520"/>
            <a:ext cx="4645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Horodatage</a:t>
            </a:r>
            <a:endParaRPr lang="fr-FR" sz="1300" noProof="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A — Acquisition et analyse de signal</a:t>
            </a:r>
            <a:endParaRPr lang="fr-FR" sz="900" noProof="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900" noProof="0" dirty="0">
                <a:solidFill>
                  <a:srgbClr val="5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54864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3" name="Image 0" descr="/home/claude/groupA_pptx/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7870" y="774954"/>
            <a:ext cx="553212" cy="5532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69164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fr-FR" sz="3600" noProof="0" dirty="0"/>
          </a:p>
        </p:txBody>
      </p:sp>
      <p:sp>
        <p:nvSpPr>
          <p:cNvPr id="5" name="Text 2"/>
          <p:cNvSpPr/>
          <p:nvPr/>
        </p:nvSpPr>
        <p:spPr>
          <a:xfrm>
            <a:off x="0" y="25146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i="1" noProof="0" dirty="0">
                <a:solidFill>
                  <a:srgbClr val="9F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projet nous a permis de mettre en pratique :</a:t>
            </a:r>
            <a:endParaRPr lang="fr-FR" sz="1500" noProof="0" dirty="0"/>
          </a:p>
        </p:txBody>
      </p:sp>
      <p:sp>
        <p:nvSpPr>
          <p:cNvPr id="6" name="Shape 3"/>
          <p:cNvSpPr/>
          <p:nvPr/>
        </p:nvSpPr>
        <p:spPr>
          <a:xfrm>
            <a:off x="745236" y="310896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4"/>
          <p:cNvSpPr/>
          <p:nvPr/>
        </p:nvSpPr>
        <p:spPr>
          <a:xfrm>
            <a:off x="1613916" y="33832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8" name="Image 1" descr="/home/claude/groupA_pptx/icon_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508" y="35478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82396" y="42519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200" noProof="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programmation orientée objet</a:t>
            </a:r>
            <a:endParaRPr lang="fr-FR" sz="1200" noProof="0" dirty="0"/>
          </a:p>
        </p:txBody>
      </p:sp>
      <p:sp>
        <p:nvSpPr>
          <p:cNvPr id="10" name="Shape 6"/>
          <p:cNvSpPr/>
          <p:nvPr/>
        </p:nvSpPr>
        <p:spPr>
          <a:xfrm>
            <a:off x="3488436" y="310896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7"/>
          <p:cNvSpPr/>
          <p:nvPr/>
        </p:nvSpPr>
        <p:spPr>
          <a:xfrm>
            <a:off x="4357116" y="33832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2" name="Image 2" descr="/home/claude/groupA_pptx/icon_pyq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708" y="3547872"/>
            <a:ext cx="402336" cy="40233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25596" y="42519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200" noProof="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développement d'interfaces graphiques</a:t>
            </a:r>
            <a:endParaRPr lang="fr-FR" sz="1200" noProof="0" dirty="0"/>
          </a:p>
        </p:txBody>
      </p:sp>
      <p:sp>
        <p:nvSpPr>
          <p:cNvPr id="14" name="Shape 9"/>
          <p:cNvSpPr/>
          <p:nvPr/>
        </p:nvSpPr>
        <p:spPr>
          <a:xfrm>
            <a:off x="6231636" y="310896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Shape 10"/>
          <p:cNvSpPr/>
          <p:nvPr/>
        </p:nvSpPr>
        <p:spPr>
          <a:xfrm>
            <a:off x="7100316" y="33832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16" name="Image 3" descr="/home/claude/groupA_pptx/icon_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4908" y="3547872"/>
            <a:ext cx="402336" cy="40233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68796" y="42519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200" noProof="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manipulation de données scientifiques</a:t>
            </a:r>
            <a:endParaRPr lang="fr-FR" sz="1200" noProof="0" dirty="0"/>
          </a:p>
        </p:txBody>
      </p:sp>
      <p:sp>
        <p:nvSpPr>
          <p:cNvPr id="18" name="Shape 12"/>
          <p:cNvSpPr/>
          <p:nvPr/>
        </p:nvSpPr>
        <p:spPr>
          <a:xfrm>
            <a:off x="8974836" y="310896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3"/>
          <p:cNvSpPr/>
          <p:nvPr/>
        </p:nvSpPr>
        <p:spPr>
          <a:xfrm>
            <a:off x="9843516" y="33832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20" name="Image 4" descr="/home/claude/groupA_pptx/icon_g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3547872"/>
            <a:ext cx="402336" cy="40233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111996" y="42519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200" noProof="0" dirty="0">
                <a:solidFill>
                  <a:srgbClr val="D7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travail collaboratif avec Git</a:t>
            </a:r>
            <a:endParaRPr lang="fr-FR" sz="1200" noProof="0" dirty="0"/>
          </a:p>
        </p:txBody>
      </p:sp>
      <p:sp>
        <p:nvSpPr>
          <p:cNvPr id="22" name="Text 15"/>
          <p:cNvSpPr/>
          <p:nvPr/>
        </p:nvSpPr>
        <p:spPr>
          <a:xfrm>
            <a:off x="1371600" y="5394960"/>
            <a:ext cx="9445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350" i="1" noProof="0" dirty="0">
                <a:solidFill>
                  <a:srgbClr val="BB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première étape vers une chaîne de traitement complète, exploitable par les autres modules du projet global.</a:t>
            </a:r>
            <a:endParaRPr lang="fr-FR" sz="1350" noProof="0" dirty="0"/>
          </a:p>
        </p:txBody>
      </p:sp>
      <p:sp>
        <p:nvSpPr>
          <p:cNvPr id="23" name="Text 16"/>
          <p:cNvSpPr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fr-FR" sz="13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697</Words>
  <Application>Microsoft Office PowerPoint</Application>
  <PresentationFormat>Grand écran</PresentationFormat>
  <Paragraphs>156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du projet – Groupe A</dc:title>
  <dc:subject>PptxGenJS Presentation</dc:subject>
  <dc:creator>Groupe A</dc:creator>
  <cp:lastModifiedBy>Tom Bottazzini</cp:lastModifiedBy>
  <cp:revision>3</cp:revision>
  <dcterms:created xsi:type="dcterms:W3CDTF">2026-06-17T11:54:26Z</dcterms:created>
  <dcterms:modified xsi:type="dcterms:W3CDTF">2026-06-17T12:30:32Z</dcterms:modified>
</cp:coreProperties>
</file>