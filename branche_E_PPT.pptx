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70" r:id="rId5"/>
    <p:sldId id="259" r:id="rId6"/>
    <p:sldId id="260" r:id="rId7"/>
    <p:sldId id="261" r:id="rId8"/>
    <p:sldId id="263" r:id="rId9"/>
    <p:sldId id="268" r:id="rId10"/>
    <p:sldId id="269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DF46A-3FC0-DED0-1FF3-1A3FD75F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BEA80-1955-1DAA-4FFA-D1C874069086}"/>
              </a:ext>
            </a:extLst>
          </p:cNvPr>
          <p:cNvSpPr txBox="1"/>
          <p:nvPr/>
        </p:nvSpPr>
        <p:spPr>
          <a:xfrm>
            <a:off x="777240" y="1920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111827"/>
                </a:solidFill>
                <a:latin typeface="Aptos"/>
              </a:rPr>
              <a:t>branche 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3FB8-2F24-6729-B82A-2C7DEA582914}"/>
              </a:ext>
            </a:extLst>
          </p:cNvPr>
          <p:cNvSpPr txBox="1"/>
          <p:nvPr/>
        </p:nvSpPr>
        <p:spPr>
          <a:xfrm>
            <a:off x="1097280" y="2743200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dirty="0">
                <a:solidFill>
                  <a:srgbClr val="0F766E"/>
                </a:solidFill>
                <a:latin typeface="Aptos"/>
              </a:rPr>
              <a:t>Backend propre + Interface PyQt5 </a:t>
            </a:r>
          </a:p>
        </p:txBody>
      </p:sp>
    </p:spTree>
    <p:extLst>
      <p:ext uri="{BB962C8B-B14F-4D97-AF65-F5344CB8AC3E}">
        <p14:creationId xmlns:p14="http://schemas.microsoft.com/office/powerpoint/2010/main" val="225464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1. Contexte et objectif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"/>
              </a:rPr>
              <a:t>Objectif de la branche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526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Conserver la logique fonctionnelle du dashboard initial.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Créer une interface desktop avec trois pages claires.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Séparer le backend d’analyse et la logique d’interface.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Générer les fichiers FFT PNG et exporter les résultats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"/>
              </a:rPr>
              <a:t>Contraintes respectées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572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Python 3 et programmation orientée objet.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PyQt5 pour l’interface utilisateur.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Pandas pour les fichiers CSV / JSON.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SciPy pour le calcul FFT.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11827"/>
                </a:solidFill>
                <a:latin typeface="Aptos"/>
              </a:rPr>
              <a:t>• Code plus modulaire et documenté.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2. Architecture globale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2880360"/>
            <a:ext cx="1325879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15000" y="2880360"/>
            <a:ext cx="130759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61120" y="2880360"/>
            <a:ext cx="12344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240280"/>
            <a:ext cx="173736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11827"/>
                </a:solidFill>
                <a:latin typeface="Aptos"/>
              </a:rPr>
              <a:t>Données
CSV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148840"/>
            <a:ext cx="1965960" cy="1463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analyzer_beta.py
Validation · règles · FFT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148840"/>
            <a:ext cx="1920240" cy="14630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main_beta.py
UI · onglets ·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2240280"/>
            <a:ext cx="150876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Sorties
CSV + PNG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DEB65D5-7631-F8F0-2022-2E3AEDC1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04" y="4251960"/>
            <a:ext cx="10798476" cy="1272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8EFEE-B6D6-E453-B456-CF41C16E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7ACA8-A940-A401-CAB9-B5DC11147B01}"/>
              </a:ext>
            </a:extLst>
          </p:cNvPr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2. Architecture globale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5540C4-C07B-9545-E878-AD46FA00239E}"/>
              </a:ext>
            </a:extLst>
          </p:cNvPr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C785A-4A84-BF65-6162-9DBE848F91CC}"/>
              </a:ext>
            </a:extLst>
          </p:cNvPr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3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577A130-D40B-680A-DE01-40A4BB7C1D2D}"/>
              </a:ext>
            </a:extLst>
          </p:cNvPr>
          <p:cNvCxnSpPr/>
          <p:nvPr/>
        </p:nvCxnSpPr>
        <p:spPr>
          <a:xfrm>
            <a:off x="2423160" y="2880360"/>
            <a:ext cx="1325879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CAE8E96-EBE2-EFFA-AF6E-7D079997A74F}"/>
              </a:ext>
            </a:extLst>
          </p:cNvPr>
          <p:cNvCxnSpPr/>
          <p:nvPr/>
        </p:nvCxnSpPr>
        <p:spPr>
          <a:xfrm>
            <a:off x="5715000" y="2880360"/>
            <a:ext cx="130759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4293A8B-D961-6B54-A56E-8368395045BA}"/>
              </a:ext>
            </a:extLst>
          </p:cNvPr>
          <p:cNvCxnSpPr/>
          <p:nvPr/>
        </p:nvCxnSpPr>
        <p:spPr>
          <a:xfrm>
            <a:off x="8961120" y="2880360"/>
            <a:ext cx="12344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595E6A-54AC-1D63-238B-DB08FF49A3DB}"/>
              </a:ext>
            </a:extLst>
          </p:cNvPr>
          <p:cNvSpPr/>
          <p:nvPr/>
        </p:nvSpPr>
        <p:spPr>
          <a:xfrm>
            <a:off x="685800" y="2240280"/>
            <a:ext cx="173736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11827"/>
                </a:solidFill>
                <a:latin typeface="Aptos"/>
              </a:rPr>
              <a:t>Données
CSV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669EDF-77BF-79CB-471F-A3EF7974CBFE}"/>
              </a:ext>
            </a:extLst>
          </p:cNvPr>
          <p:cNvSpPr/>
          <p:nvPr/>
        </p:nvSpPr>
        <p:spPr>
          <a:xfrm>
            <a:off x="3749039" y="2148840"/>
            <a:ext cx="1965960" cy="1463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analyzer_beta.py
Validation · règles · FFT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299D4A-E6DB-8069-EE69-32A8A3EEBE7E}"/>
              </a:ext>
            </a:extLst>
          </p:cNvPr>
          <p:cNvSpPr/>
          <p:nvPr/>
        </p:nvSpPr>
        <p:spPr>
          <a:xfrm>
            <a:off x="7040880" y="2148840"/>
            <a:ext cx="1920240" cy="14630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main_beta.py
UI · onglets · actions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E31DB6-99B3-8654-234B-D394099CAD0B}"/>
              </a:ext>
            </a:extLst>
          </p:cNvPr>
          <p:cNvSpPr/>
          <p:nvPr/>
        </p:nvSpPr>
        <p:spPr>
          <a:xfrm>
            <a:off x="10195560" y="2240280"/>
            <a:ext cx="150876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Sorties
CSV + PNG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45840AA-E657-5085-0C55-F54890A4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4206239"/>
            <a:ext cx="9333943" cy="158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2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3. Backend : analyzer_beta.py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Le fichier qui contient toute la logique d’analyse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26453"/>
            <a:ext cx="4983480" cy="15087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72762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11827"/>
                </a:solidFill>
                <a:latin typeface="Aptos"/>
              </a:rPr>
              <a:t>AnomalyThresholds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48245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dataclass qui centralise les seuils
confidence_min · frequency_max_hz · rms_max · kurtosis_max · energy_min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26453"/>
            <a:ext cx="4983480" cy="1508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272762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11827"/>
                </a:solidFill>
                <a:latin typeface="Aptos"/>
              </a:rPr>
              <a:t>SignalAnalyzer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3148245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classe principale du backend
load_dataframe · apply_thresholds · make_fft · save_fft_plot_files · export_results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4. Règles d’anomalie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12264"/>
            <a:ext cx="3337560" cy="114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22585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877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onsolas"/>
              </a:rPr>
              <a:t>confidence &lt; confidence_min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7121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classification peu fiable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112264"/>
            <a:ext cx="3337560" cy="114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2585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Fréquence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877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onsolas"/>
              </a:rPr>
              <a:t>dominant_frequency_hz &gt; frequency_max_hz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87121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fréquence dominante trop élevée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2112264"/>
            <a:ext cx="3337560" cy="114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9056" y="22585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5877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onsolas"/>
              </a:rPr>
              <a:t>rms &gt; rms_max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7121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amplitude globale trop forte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12464"/>
            <a:ext cx="3337560" cy="114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858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Kurtosis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1879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onsolas"/>
              </a:rPr>
              <a:t>kurtosis &gt; kurtosis_max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47141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pics / impulsions anormales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712464"/>
            <a:ext cx="333756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3858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1879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onsolas"/>
              </a:rPr>
              <a:t>energy &lt; energy_min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47141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signal trop faible ou suspect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ptos"/>
              </a:rPr>
              <a:t>5. FFT et génération des PNG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743200"/>
            <a:ext cx="91440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4920" y="2743200"/>
            <a:ext cx="91440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120" y="2743200"/>
            <a:ext cx="91440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148840"/>
            <a:ext cx="155448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make_time_series(row)
Signal synthétique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48840"/>
            <a:ext cx="1828800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make_fft(row)
SciPy FFT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148840"/>
            <a:ext cx="182880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save_fft_png(row)
Matplotlib Figure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148840"/>
            <a:ext cx="196596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plots/fft_ID.png
Image exportée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959352"/>
            <a:ext cx="4572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461586" y="405189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Aptos"/>
              </a:rPr>
              <a:t>Sorties attendues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1586" y="4381083"/>
            <a:ext cx="3749039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dirty="0">
                <a:solidFill>
                  <a:srgbClr val="111827"/>
                </a:solidFill>
                <a:latin typeface="Consolas"/>
              </a:rPr>
              <a:t>plots/fft_0.png
plots/fft_1.png
plots/fft_2.png …</a:t>
            </a:r>
            <a:endParaRPr lang="fr-FR" sz="1350" b="0" dirty="0">
              <a:solidFill>
                <a:srgbClr val="111827"/>
              </a:solidFill>
              <a:latin typeface="Consolas"/>
            </a:endParaRPr>
          </a:p>
          <a:p>
            <a:pPr algn="l"/>
            <a:endParaRPr sz="1350" b="0" dirty="0">
              <a:solidFill>
                <a:srgbClr val="111827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fr-FR" sz="3000" b="1" dirty="0">
                <a:solidFill>
                  <a:srgbClr val="111827"/>
                </a:solidFill>
                <a:latin typeface="Aptos"/>
              </a:rPr>
              <a:t>6</a:t>
            </a:r>
            <a:r>
              <a:rPr sz="3000" b="1" dirty="0">
                <a:solidFill>
                  <a:srgbClr val="111827"/>
                </a:solidFill>
                <a:latin typeface="Aptos"/>
              </a:rPr>
              <a:t>. UI — trois onglets </a:t>
            </a:r>
            <a:r>
              <a:rPr sz="3000" b="1" dirty="0" err="1">
                <a:solidFill>
                  <a:srgbClr val="111827"/>
                </a:solidFill>
                <a:latin typeface="Aptos"/>
              </a:rPr>
              <a:t>séparés</a:t>
            </a:r>
            <a:endParaRPr sz="3000" b="1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1 Data /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Chargement CSV/JSON
Seuils + métriques
Export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2 Dashboard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4 graphes principaux
Confiance, fréquence
RMS/Énergie,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3 Samples /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Table filtrable
Détails échantillon
Signal temporel + FFT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71904E70-8C90-A679-4311-D989A20F1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33" y="2935223"/>
            <a:ext cx="6217933" cy="3687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A5B51-BB03-D996-1A7B-76B5ECE5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74E0C3-EA8A-3D99-9AA9-70D104B153A7}"/>
              </a:ext>
            </a:extLst>
          </p:cNvPr>
          <p:cNvSpPr txBox="1"/>
          <p:nvPr/>
        </p:nvSpPr>
        <p:spPr>
          <a:xfrm>
            <a:off x="566928" y="320040"/>
            <a:ext cx="8046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fr-FR" sz="3000" b="1" dirty="0">
                <a:solidFill>
                  <a:srgbClr val="111827"/>
                </a:solidFill>
                <a:latin typeface="Aptos"/>
              </a:rPr>
              <a:t>6</a:t>
            </a:r>
            <a:r>
              <a:rPr sz="3000" b="1" dirty="0">
                <a:solidFill>
                  <a:srgbClr val="111827"/>
                </a:solidFill>
                <a:latin typeface="Aptos"/>
              </a:rPr>
              <a:t>. UI — trois onglets </a:t>
            </a:r>
            <a:r>
              <a:rPr sz="3000" b="1" dirty="0" err="1">
                <a:solidFill>
                  <a:srgbClr val="111827"/>
                </a:solidFill>
                <a:latin typeface="Aptos"/>
              </a:rPr>
              <a:t>séparés</a:t>
            </a:r>
            <a:endParaRPr sz="3000" b="1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FD3DEB-C19D-00AA-4C3B-844BE1A3E0AE}"/>
              </a:ext>
            </a:extLst>
          </p:cNvPr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C10E3-4071-927C-5FD1-1D3770814C82}"/>
              </a:ext>
            </a:extLst>
          </p:cNvPr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ABE364-5D39-6036-9D84-416B5DAE2810}"/>
              </a:ext>
            </a:extLst>
          </p:cNvPr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2876A-D369-6BB5-2EB1-D418081D7A89}"/>
              </a:ext>
            </a:extLst>
          </p:cNvPr>
          <p:cNvSpPr txBox="1"/>
          <p:nvPr/>
        </p:nvSpPr>
        <p:spPr>
          <a:xfrm>
            <a:off x="88696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1 Data / 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D70FD-62D6-BFF4-3D10-87766661EE0E}"/>
              </a:ext>
            </a:extLst>
          </p:cNvPr>
          <p:cNvSpPr txBox="1"/>
          <p:nvPr/>
        </p:nvSpPr>
        <p:spPr>
          <a:xfrm>
            <a:off x="88696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Chargement CSV/JSON
Seuils + métriques
Export CSV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117005-81AA-281F-3C3C-1F285792184C}"/>
              </a:ext>
            </a:extLst>
          </p:cNvPr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6F038-D519-D641-32F2-33590D773A9D}"/>
              </a:ext>
            </a:extLst>
          </p:cNvPr>
          <p:cNvSpPr txBox="1"/>
          <p:nvPr/>
        </p:nvSpPr>
        <p:spPr>
          <a:xfrm>
            <a:off x="468172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2 Dashboard Charts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DC4CE-7D01-BC6D-CD30-2B49B0F8D2C1}"/>
              </a:ext>
            </a:extLst>
          </p:cNvPr>
          <p:cNvSpPr txBox="1"/>
          <p:nvPr/>
        </p:nvSpPr>
        <p:spPr>
          <a:xfrm>
            <a:off x="468172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4 graphes principaux
Confiance, fréquence
RMS/Énergie, labels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F04C03-2365-C1DA-51F0-D278F5AB4968}"/>
              </a:ext>
            </a:extLst>
          </p:cNvPr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D31DD-D3FB-05FD-4C69-01CB56B992E7}"/>
              </a:ext>
            </a:extLst>
          </p:cNvPr>
          <p:cNvSpPr txBox="1"/>
          <p:nvPr/>
        </p:nvSpPr>
        <p:spPr>
          <a:xfrm>
            <a:off x="847648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3 Samples / Details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50E2A-5A59-13DD-7AE3-83A1B5DD31EC}"/>
              </a:ext>
            </a:extLst>
          </p:cNvPr>
          <p:cNvSpPr txBox="1"/>
          <p:nvPr/>
        </p:nvSpPr>
        <p:spPr>
          <a:xfrm>
            <a:off x="847648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Table filtrable
Détails échantillon
Signal temporel + FFT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62F75A3-DB4E-BEF6-8CF3-1F6E90BA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273" y="2899704"/>
            <a:ext cx="6378109" cy="380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7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40A72-6B8A-6A7B-E9D5-C175DD37B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95855-1C6B-F23C-6C98-5AAF4FA56224}"/>
              </a:ext>
            </a:extLst>
          </p:cNvPr>
          <p:cNvSpPr txBox="1"/>
          <p:nvPr/>
        </p:nvSpPr>
        <p:spPr>
          <a:xfrm>
            <a:off x="566928" y="320040"/>
            <a:ext cx="8046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fr-FR" sz="3000" b="1" dirty="0">
                <a:solidFill>
                  <a:srgbClr val="111827"/>
                </a:solidFill>
                <a:latin typeface="Aptos"/>
              </a:rPr>
              <a:t>6</a:t>
            </a:r>
            <a:r>
              <a:rPr sz="3000" b="1" dirty="0">
                <a:solidFill>
                  <a:srgbClr val="111827"/>
                </a:solidFill>
                <a:latin typeface="Aptos"/>
              </a:rPr>
              <a:t>. UI — trois onglets </a:t>
            </a:r>
            <a:r>
              <a:rPr sz="3000" b="1" dirty="0" err="1">
                <a:solidFill>
                  <a:srgbClr val="111827"/>
                </a:solidFill>
                <a:latin typeface="Aptos"/>
              </a:rPr>
              <a:t>séparés</a:t>
            </a:r>
            <a:endParaRPr sz="3000" b="1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467DCA-F0D1-41FD-4EA0-840411D9CE06}"/>
              </a:ext>
            </a:extLst>
          </p:cNvPr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78C7D-72AD-3D6D-B8F4-AFC23BDEF99A}"/>
              </a:ext>
            </a:extLst>
          </p:cNvPr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311EBE-C711-F8F5-51B8-A7F12A04520D}"/>
              </a:ext>
            </a:extLst>
          </p:cNvPr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A0B0C-FF8E-3954-4F06-9501A19957A5}"/>
              </a:ext>
            </a:extLst>
          </p:cNvPr>
          <p:cNvSpPr txBox="1"/>
          <p:nvPr/>
        </p:nvSpPr>
        <p:spPr>
          <a:xfrm>
            <a:off x="88696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1 Data / 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47BCD-226C-A08A-45B7-1DED3B3AD9D2}"/>
              </a:ext>
            </a:extLst>
          </p:cNvPr>
          <p:cNvSpPr txBox="1"/>
          <p:nvPr/>
        </p:nvSpPr>
        <p:spPr>
          <a:xfrm>
            <a:off x="88696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Chargement CSV/JSON
Seuils + métriques
Export CSV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E7FE26-7D49-A97D-AF4A-8F684B5EC411}"/>
              </a:ext>
            </a:extLst>
          </p:cNvPr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6BC64-E721-A184-1949-8B2287CBE637}"/>
              </a:ext>
            </a:extLst>
          </p:cNvPr>
          <p:cNvSpPr txBox="1"/>
          <p:nvPr/>
        </p:nvSpPr>
        <p:spPr>
          <a:xfrm>
            <a:off x="468172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2 Dashboard Charts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3021E-7211-4A98-4E57-4DCA57B363F6}"/>
              </a:ext>
            </a:extLst>
          </p:cNvPr>
          <p:cNvSpPr txBox="1"/>
          <p:nvPr/>
        </p:nvSpPr>
        <p:spPr>
          <a:xfrm>
            <a:off x="468172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4 graphes principaux
Confiance, fréquence
RMS/Énergie, labels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298FFE-752B-5F6E-A186-0538606A8820}"/>
              </a:ext>
            </a:extLst>
          </p:cNvPr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ACA79-1107-39F3-CD62-21BA3C74F87A}"/>
              </a:ext>
            </a:extLst>
          </p:cNvPr>
          <p:cNvSpPr txBox="1"/>
          <p:nvPr/>
        </p:nvSpPr>
        <p:spPr>
          <a:xfrm>
            <a:off x="8476488" y="16642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3 Samples / Details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64A84-30DC-14FE-7B86-96B0F01089DC}"/>
              </a:ext>
            </a:extLst>
          </p:cNvPr>
          <p:cNvSpPr txBox="1"/>
          <p:nvPr/>
        </p:nvSpPr>
        <p:spPr>
          <a:xfrm>
            <a:off x="8476488" y="2084831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ptos"/>
              </a:rPr>
              <a:t>Table filtrable
Détails échantillon
Signal temporel + FFT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A951382-CA6A-445C-2804-74868361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052" y="2935223"/>
            <a:ext cx="6350435" cy="37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8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fr-FR" sz="3000" b="1" dirty="0">
                <a:solidFill>
                  <a:srgbClr val="111827"/>
                </a:solidFill>
                <a:latin typeface="Aptos"/>
              </a:rPr>
              <a:t>7</a:t>
            </a:r>
            <a:r>
              <a:rPr sz="3000" b="1" dirty="0">
                <a:solidFill>
                  <a:srgbClr val="111827"/>
                </a:solidFill>
                <a:latin typeface="Aptos"/>
              </a:rPr>
              <a:t>. Workflow </a:t>
            </a:r>
            <a:r>
              <a:rPr sz="3000" b="1" dirty="0" err="1">
                <a:solidFill>
                  <a:srgbClr val="111827"/>
                </a:solidFill>
                <a:latin typeface="Aptos"/>
              </a:rPr>
              <a:t>utilisateur</a:t>
            </a:r>
            <a:endParaRPr sz="3000" b="1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Ce que fait l’utilisateur pendant la démonstration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84048"/>
            <a:ext cx="1965960" cy="41148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branche_E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Branche E analysis  ·  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8346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80560" y="28346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20840" y="28346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28346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3444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Charger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186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CSV/JSON ou demo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6060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8346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Ajuster seuils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186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sliders interactifs</a:t>
            </a:r>
          </a:p>
        </p:txBody>
      </p:sp>
      <p:sp>
        <p:nvSpPr>
          <p:cNvPr id="18" name="Oval 17"/>
          <p:cNvSpPr/>
          <p:nvPr/>
        </p:nvSpPr>
        <p:spPr>
          <a:xfrm>
            <a:off x="571500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6060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8346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Observer résultats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186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métriques + graphes</a:t>
            </a:r>
          </a:p>
        </p:txBody>
      </p:sp>
      <p:sp>
        <p:nvSpPr>
          <p:cNvPr id="22" name="Oval 21"/>
          <p:cNvSpPr/>
          <p:nvPr/>
        </p:nvSpPr>
        <p:spPr>
          <a:xfrm>
            <a:off x="795528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6060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28346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Analyser 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2186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table + détail FFT</a:t>
            </a:r>
          </a:p>
        </p:txBody>
      </p:sp>
      <p:sp>
        <p:nvSpPr>
          <p:cNvPr id="26" name="Oval 25"/>
          <p:cNvSpPr/>
          <p:nvPr/>
        </p:nvSpPr>
        <p:spPr>
          <a:xfrm>
            <a:off x="1019556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6060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28346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Exporter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2186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CSV + plots FFT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920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111827"/>
                </a:solidFill>
                <a:latin typeface="Aptos"/>
              </a:rPr>
              <a:t>branche 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dirty="0">
                <a:solidFill>
                  <a:srgbClr val="0F766E"/>
                </a:solidFill>
                <a:latin typeface="Aptos"/>
              </a:rPr>
              <a:t>Backend</a:t>
            </a:r>
            <a:r>
              <a:rPr lang="fr-FR" sz="2200" b="0" dirty="0">
                <a:solidFill>
                  <a:srgbClr val="0F766E"/>
                </a:solidFill>
                <a:latin typeface="Aptos"/>
              </a:rPr>
              <a:t> </a:t>
            </a:r>
            <a:r>
              <a:rPr sz="2200" b="0" dirty="0">
                <a:solidFill>
                  <a:srgbClr val="0F766E"/>
                </a:solidFill>
                <a:latin typeface="Aptos"/>
              </a:rPr>
              <a:t>+ Interface PyQt5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660</Words>
  <Application>Microsoft Office PowerPoint</Application>
  <PresentationFormat>Grand écran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moncef hil</cp:lastModifiedBy>
  <cp:revision>2</cp:revision>
  <dcterms:created xsi:type="dcterms:W3CDTF">2013-01-27T09:14:16Z</dcterms:created>
  <dcterms:modified xsi:type="dcterms:W3CDTF">2026-06-17T13:08:25Z</dcterms:modified>
  <cp:category/>
</cp:coreProperties>
</file>